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2" d="100"/>
          <a:sy n="122" d="100"/>
        </p:scale>
        <p:origin x="78" y="4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8100" cap="flat">
              <a:solidFill>
                <a:srgbClr val="2DD4B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DD4BF"/>
              </a:solidFill>
              <a:ln w="9525" cap="flat">
                <a:solidFill>
                  <a:srgbClr val="2DD4BF"/>
                </a:solidFill>
                <a:prstDash val="solid"/>
                <a:round/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94.25</c:v>
                </c:pt>
                <c:pt idx="1">
                  <c:v>96.03</c:v>
                </c:pt>
                <c:pt idx="2">
                  <c:v>96.66</c:v>
                </c:pt>
                <c:pt idx="3">
                  <c:v>96.99</c:v>
                </c:pt>
                <c:pt idx="4">
                  <c:v>97.24</c:v>
                </c:pt>
                <c:pt idx="5">
                  <c:v>97.47</c:v>
                </c:pt>
                <c:pt idx="6">
                  <c:v>97.62</c:v>
                </c:pt>
                <c:pt idx="7">
                  <c:v>97.7</c:v>
                </c:pt>
                <c:pt idx="8">
                  <c:v>97.62</c:v>
                </c:pt>
                <c:pt idx="9">
                  <c:v>97.69</c:v>
                </c:pt>
                <c:pt idx="10">
                  <c:v>97.72</c:v>
                </c:pt>
                <c:pt idx="11">
                  <c:v>97.74</c:v>
                </c:pt>
                <c:pt idx="12">
                  <c:v>97.76</c:v>
                </c:pt>
                <c:pt idx="13">
                  <c:v>97.77</c:v>
                </c:pt>
                <c:pt idx="14">
                  <c:v>97.75</c:v>
                </c:pt>
                <c:pt idx="15">
                  <c:v>97.78</c:v>
                </c:pt>
                <c:pt idx="16">
                  <c:v>97.79</c:v>
                </c:pt>
                <c:pt idx="17">
                  <c:v>97.78</c:v>
                </c:pt>
                <c:pt idx="18">
                  <c:v>97.8</c:v>
                </c:pt>
                <c:pt idx="19">
                  <c:v>97.8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201-42E9-8B32-5072EAE282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8.5"/>
          <c:min val="93"/>
        </c:scaling>
        <c:delete val="0"/>
        <c:axPos val="l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11B2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8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Problem: it looks cool and I wanted to do it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Methodology: math, loops, matrix (but we never covered that)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Results: the app itself + 97.7 accuracy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Conclusion: </a:t>
            </a:r>
            <a:r>
              <a:rPr lang="en-US" dirty="0" err="1"/>
              <a:t>youll</a:t>
            </a:r>
            <a:r>
              <a:rPr lang="en-US" dirty="0"/>
              <a:t> see at the end of the slides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-Jackson</a:t>
            </a:r>
          </a:p>
          <a:p>
            <a:endParaRPr lang="en-US" dirty="0"/>
          </a:p>
          <a:p>
            <a:r>
              <a:rPr lang="en-US" dirty="0"/>
              <a:t>-</a:t>
            </a:r>
            <a:r>
              <a:rPr lang="en-US" b="1" u="sng" dirty="0"/>
              <a:t>Explain</a:t>
            </a:r>
            <a:r>
              <a:rPr lang="en-US" dirty="0"/>
              <a:t> </a:t>
            </a:r>
          </a:p>
          <a:p>
            <a:r>
              <a:rPr lang="en-US" dirty="0"/>
              <a:t>The MNIST data and how the data was needed because it is filtered and we can easily use it to train the Neural Network</a:t>
            </a:r>
          </a:p>
          <a:p>
            <a:endParaRPr lang="en-US" dirty="0"/>
          </a:p>
          <a:p>
            <a:r>
              <a:rPr lang="en-US" dirty="0"/>
              <a:t>This matters because we can accurately tell the system if a guess is right or wrong because the data we used to train it was already classified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-Jackson</a:t>
            </a:r>
          </a:p>
          <a:p>
            <a:endParaRPr lang="en-US" dirty="0"/>
          </a:p>
          <a:p>
            <a:r>
              <a:rPr lang="en-US" dirty="0"/>
              <a:t>-</a:t>
            </a:r>
            <a:r>
              <a:rPr lang="en-US" b="1" u="sng" dirty="0"/>
              <a:t>Explain</a:t>
            </a:r>
          </a:p>
          <a:p>
            <a:r>
              <a:rPr lang="en-US" dirty="0"/>
              <a:t>everything hardcoded. No libraries, no containers, just raw code</a:t>
            </a:r>
          </a:p>
          <a:p>
            <a:endParaRPr lang="en-US" dirty="0"/>
          </a:p>
          <a:p>
            <a:r>
              <a:rPr lang="en-US" dirty="0"/>
              <a:t>-A deeper understanding of how each neuron learns and how the whole system is built</a:t>
            </a:r>
          </a:p>
          <a:p>
            <a:endParaRPr lang="en-US" dirty="0"/>
          </a:p>
          <a:p>
            <a:r>
              <a:rPr lang="en-US" dirty="0"/>
              <a:t>-the whole system is built in C </a:t>
            </a:r>
          </a:p>
          <a:p>
            <a:r>
              <a:rPr lang="en-US" dirty="0"/>
              <a:t>The Neural Network itself is built in 189 lines of code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Jackson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784 = 1 for each pixel in the image</a:t>
            </a:r>
          </a:p>
          <a:p>
            <a:pPr marL="171450" indent="-171450">
              <a:buFontTx/>
              <a:buChar char="-"/>
            </a:pPr>
            <a:r>
              <a:rPr lang="en-US" dirty="0"/>
              <a:t>128 = better accuracy</a:t>
            </a:r>
          </a:p>
          <a:p>
            <a:pPr marL="171450" indent="-171450">
              <a:buFontTx/>
              <a:buChar char="-"/>
            </a:pPr>
            <a:r>
              <a:rPr lang="en-US" dirty="0"/>
              <a:t>10 = 0-9 (output)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Austin 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formula for each neuron </a:t>
            </a:r>
          </a:p>
          <a:p>
            <a:pPr marL="171450" indent="-171450">
              <a:buFontTx/>
              <a:buChar char="-"/>
            </a:pPr>
            <a:r>
              <a:rPr lang="en-US" dirty="0"/>
              <a:t>Z = W1 * X1 …</a:t>
            </a:r>
          </a:p>
          <a:p>
            <a:pPr marL="171450" indent="-171450">
              <a:buFontTx/>
              <a:buChar char="-"/>
            </a:pPr>
            <a:r>
              <a:rPr lang="en-US" dirty="0"/>
              <a:t>Activation function = </a:t>
            </a:r>
            <a:r>
              <a:rPr lang="en-US" dirty="0" err="1"/>
              <a:t>ReLU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Explain how the activation function works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(open VS and start the training process as it will take a little bit of time)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Austin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need an activation function for each neuron so that each neuron can make a decision on if it should fire or not.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Softmax</a:t>
            </a:r>
            <a:r>
              <a:rPr lang="en-US" dirty="0"/>
              <a:t> is how we compute the final layer into an actual probability distribution.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Austin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-Anthony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Learning rate: how much the Neural Network is allowed to move with each learning pass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Batch size: the amount of images the Neural Network needs to analyze before updating the parameters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Epochs: the amount of times we make the system go through </a:t>
            </a:r>
            <a:r>
              <a:rPr lang="en-US" b="1" u="sng" dirty="0"/>
              <a:t>ALL </a:t>
            </a:r>
            <a:r>
              <a:rPr lang="en-US" b="0" u="none" dirty="0"/>
              <a:t> of the data (all 60000 images)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-Anthony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results rapidly grow towards the 95% accuracy and then levels off with marginal gain for each epoch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Total training time is two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Show off the pixels and where the NN looks for each number and how some numbers have the same “hot spot” which could cause an error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overlap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how the number could be a different number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  <a:p>
            <a:endParaRPr lang="en-US" dirty="0"/>
          </a:p>
          <a:p>
            <a:r>
              <a:rPr lang="en-US" dirty="0"/>
              <a:t>(show off the program on VS)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Austin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Init_weights</a:t>
            </a:r>
            <a:r>
              <a:rPr lang="en-US" dirty="0"/>
              <a:t> = random weights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Forward() = takes an image and throws it through the program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Backward() = chain rule and fine tuning the weights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Update() = updating each of the weights and bias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Load_mnist</a:t>
            </a:r>
            <a:r>
              <a:rPr lang="en-US" dirty="0"/>
              <a:t>() = load the images into a sorted order so the system has an easier time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Main() = where the magic happens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-Austin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In conclusion… </a:t>
            </a:r>
          </a:p>
          <a:p>
            <a:pPr marL="171450" indent="-171450">
              <a:buFontTx/>
              <a:buChar char="-"/>
            </a:pPr>
            <a:r>
              <a:rPr lang="en-US" dirty="0"/>
              <a:t>This was an interesting and very educational project showing off the world of AI and low level language barrier challenges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Future work:</a:t>
            </a:r>
            <a:br>
              <a:rPr lang="en-US" dirty="0"/>
            </a:br>
            <a:r>
              <a:rPr lang="en-US" dirty="0"/>
              <a:t>make it bigger and develop it so we can have the system recognize letters </a:t>
            </a:r>
          </a:p>
          <a:p>
            <a:pPr marL="171450" indent="-171450">
              <a:buFontTx/>
              <a:buChar char="-"/>
            </a:pPr>
            <a:r>
              <a:rPr lang="en-US" dirty="0"/>
              <a:t>(of if were getting fancy) images!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(don’t be </a:t>
            </a:r>
            <a:r>
              <a:rPr lang="en-US" dirty="0" err="1"/>
              <a:t>stoopid</a:t>
            </a:r>
            <a:r>
              <a:rPr lang="en-US" dirty="0"/>
              <a:t> lmao)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(thank </a:t>
            </a:r>
            <a:r>
              <a:rPr lang="en-US" dirty="0" err="1"/>
              <a:t>yall</a:t>
            </a:r>
            <a:r>
              <a:rPr lang="en-US" dirty="0"/>
              <a:t> for helping with the presentation)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457200" cy="36576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5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PROGRAMMING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Neural Network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Entirely in C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91840"/>
            <a:ext cx="46993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frameworks  ·  No libraries  ·  Just loops, and math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Riha, Jackson Bedenbaugh, Anthony Skidmore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8046720" cy="6858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15361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Formulation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solving and why it matters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8046720" cy="6858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2359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51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architecture, math, and training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046720" cy="6858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371600" y="3182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474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performance, and the drawing app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8046720" cy="6858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4023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71600" y="40050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and what comes next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FORMULATION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28×28 pixel image of a handwritten digit, classify it as 0–9.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79476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4864" cy="137160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MNIST Dataset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5603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training images and 10,000 test images of handwritten digits. Each image is 28×28 pixels in grayscale — 784 values between 0 (black) and 255 (white).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2103120"/>
            <a:ext cx="379476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2103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56032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 recognition is the "hello world" of machine learning. Simple enough to build from scratch, complex enough to demonstrate real neural network principles.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core technology behind modern AI and LLM, just at a smaller scale.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FORMULATION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Build It in C?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56032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864" cy="137160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Libraries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TensorFlow, PyTorch, or NumPy. Every matrix multiply, every gradient — written by hand.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56032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54864" cy="137160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2044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Understanding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from scratch means understanding every single operation. Nothing is hidden behind library calls.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35040" y="1463040"/>
            <a:ext cx="54864" cy="137160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6364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636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standard library and the math library. Arrays and for loops — procedural programming.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neural network fits in a single .c file — 189 lines of code.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DD4BF"/>
                </a:solidFill>
                <a:latin typeface="Consolas" pitchFamily="34" charset="0"/>
              </a:rPr>
              <a:t>189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374904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109,386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29184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35040" y="374904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350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03504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LIBRARIES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Architecture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9456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pixels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9456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17320"/>
            <a:ext cx="2194560" cy="13716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5216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5216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85216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26080" y="2103120"/>
            <a:ext cx="36576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86400" y="2103120"/>
            <a:ext cx="36576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connected: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neuron in one layer connects to every neuron in the next. Weights start random and gradually organize into digit-recognizing patterns.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8046720" cy="9144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Count: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2519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(784×128) + 128 + (128×10) + 10 = </a:t>
            </a:r>
            <a:r>
              <a:rPr lang="en-US" sz="1100" u="sng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109,386</a:t>
            </a: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trainable parameters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Forward Pass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neuron: multiply inputs by weights, add bias, apply activation.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4023360" cy="1645920"/>
          </a:xfrm>
          <a:prstGeom prst="rect">
            <a:avLst/>
          </a:prstGeom>
          <a:solidFill>
            <a:srgbClr val="0D1526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neuron equation: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w1*x1 + w2*x2 + ... + wn*xn + 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activation(z)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C: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z1[i] += W1[i][j] * input[j];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a1[i] = z1[i] &gt; 0 ? z1[i] : 0; // ReLU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920240"/>
            <a:ext cx="384048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920240"/>
            <a:ext cx="54864" cy="7315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Hidden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23774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inputs × 128 weights = 128 outputs through ReLU.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384048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2834640"/>
            <a:ext cx="54864" cy="7315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8348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Output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83480" y="32918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inputs × 10 weights = 10 probabilities via softmax.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931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values (z1, a1, z2, a2) are stored because backpropagation needs them.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 Functions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25603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931920" cy="54864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ReLU (Hidden Layer)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max(0, z)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3317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positive, pass it through.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negative, output zero.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the network learn nonlinear patterns. Without it, stacking layers would just be one big linear transformation.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931920" cy="25603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63440" y="1371600"/>
            <a:ext cx="3931920" cy="54864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Softmax (Output Layer)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e^zi / Σ e^zj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46320" y="233172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10 raw scores into probabilities that sum to 1.0.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network is confident it's a "7", that neuron outputs 0.95 while others share 0.05.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max(z) first to prevent overflow.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Backpropagation — How It Learns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4864" cy="7315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463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14447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Forward Pass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17556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image through, get prediction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40280"/>
            <a:ext cx="804672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54864" cy="7315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2313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 Loss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624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how wrong: L = −Σ yᵢ log(ŷᵢ)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54864" cy="73152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71600" y="31821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Backward Pass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34930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rule: how much did each weight contribute to the error?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7315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54864" cy="7315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4069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4050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Update Weights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3616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← W − learning_rate × gradient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" y="46778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gradient simplifies to  </a:t>
            </a: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dz = prediction − truth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then chain rule carries it backward.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Descent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tells you which direction is downhill. The learning rate tells you how far to step.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4572000" cy="1280160"/>
          </a:xfrm>
          <a:prstGeom prst="rect">
            <a:avLst/>
          </a:prstGeom>
          <a:solidFill>
            <a:srgbClr val="0D1526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update rule: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W1[i][j] -= (lr / batch_size) * dW1[i][j];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Nudge each weight in the direction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that reduces the loss.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428218"/>
            <a:ext cx="3108960" cy="128016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428218"/>
            <a:ext cx="54864" cy="128016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56537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Analogy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88541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a hill in thick fog. You can't see the valley, but you can feel which way the ground slopes. Step downhill each time.</a:t>
            </a:r>
            <a:endParaRPr lang="en-US" sz="1100" dirty="0"/>
          </a:p>
        </p:txBody>
      </p:sp>
      <p:pic>
        <p:nvPicPr>
          <p:cNvPr id="13" name="Picture 12" descr="The image appears to be a circular pattern with concentric, color-graded circles, possibly representing a visualization of data or a graph.&#10;&#10;AI-generated content may be incorrect.">
            <a:extLst>
              <a:ext uri="{FF2B5EF4-FFF2-40B4-BE49-F238E27FC236}">
                <a16:creationId xmlns:a16="http://schemas.microsoft.com/office/drawing/2014/main" id="{B8AF31E4-E832-CFF3-B7F1-FF9458CF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944" y="1975318"/>
            <a:ext cx="2813536" cy="290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Configuration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864" cy="91440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Rate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554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size per update. Too big = overshoot. Too small = slow.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8046720" cy="9144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864" cy="9144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Batch Size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651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per update. Average 32 gradients for stability.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8046720" cy="9144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4864" cy="91440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Epochs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0" y="3749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passes through all 60,000 images.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Results</a:t>
            </a:r>
            <a:endParaRPr lang="en-US" sz="3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37160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37160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035040" y="1508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97.8%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035040" y="2011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ACCURACY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035040" y="265176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03504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94.3%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0" y="32918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 EPOCH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035040" y="3931920"/>
            <a:ext cx="2560320" cy="109728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35040" y="4069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min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035040" y="45720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TIME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Breakdown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10,000 test images the network has never seen this is what the network “looks for”:</a:t>
            </a:r>
            <a:endParaRPr lang="en-US" sz="1400" dirty="0"/>
          </a:p>
        </p:txBody>
      </p:sp>
      <p:pic>
        <p:nvPicPr>
          <p:cNvPr id="14" name="Picture 13" descr="The image displays a colorful, complex pattern of overlaid grids, each representing a different number from zero to nine, arranged in a grid format.&#10;&#10;AI-generated content may be incorrect.">
            <a:extLst>
              <a:ext uri="{FF2B5EF4-FFF2-40B4-BE49-F238E27FC236}">
                <a16:creationId xmlns:a16="http://schemas.microsoft.com/office/drawing/2014/main" id="{079DE47E-00DF-4007-CCC6-0753D3D31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52" y="1742019"/>
            <a:ext cx="7282375" cy="33282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Drawing App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companion program lets you draw digits and watch the network classify them in real time.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840480" cy="22860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864" cy="228600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0574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trained weights from weights.bin, then runs the exact same forward pass on your drawing.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28×28 canvas is scaled up for visibility. A soft brush mimics MNIST's anti-aliasing.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probability bars for all 10 digits.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920240"/>
            <a:ext cx="3840480" cy="228600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1920240"/>
            <a:ext cx="54864" cy="2286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23774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drag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Draw on canvas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drag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Erase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key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Guess the digit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key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Clear canvas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key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Quit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Structure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4864" cy="100584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init_weights()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random × √(2/fan_in)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4864" cy="10058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multiply + ReLU/softmax, cache results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54864" cy="1005840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backward()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rule: gradients for all 109K weights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37160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46320" y="1371600"/>
            <a:ext cx="54864" cy="100584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-= (lr/batch) × gradient, zero grads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56032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46320" y="2560320"/>
            <a:ext cx="54864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load_mnist()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big-endian IDX format, normalize pixels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749040"/>
            <a:ext cx="4114800" cy="100584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846320" y="37490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0" y="3840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init → train → test → save weights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365760" cy="2743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05840" y="274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Next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4864" cy="118872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neural network from scratch in C — forward pass, backpropagation, gradient descent, MNIST loader, and interactive drawing app. 278 lines, zero libraries.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3931920" cy="1188720"/>
          </a:xfrm>
          <a:prstGeom prst="rect">
            <a:avLst/>
          </a:prstGeom>
          <a:solidFill>
            <a:srgbClr val="111B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54864" cy="1188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Proved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97.8% accuracy on unseen data proves the network learned generalizable patterns. The same math powers billion-parameter models.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8046720" cy="384048"/>
          </a:xfrm>
          <a:prstGeom prst="rect">
            <a:avLst/>
          </a:prstGeom>
          <a:solidFill>
            <a:srgbClr val="11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1912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Layers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08960" y="31912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→ 256 → 128 → 64 → 10 for higher accuracy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8046720" cy="384048"/>
          </a:xfrm>
          <a:prstGeom prst="rect">
            <a:avLst/>
          </a:prstGeom>
          <a:solidFill>
            <a:srgbClr val="11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36484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Decay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108960" y="36484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lr each epoch for finer tuning in later stages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8046720" cy="384048"/>
          </a:xfrm>
          <a:prstGeom prst="rect">
            <a:avLst/>
          </a:prstGeom>
          <a:solidFill>
            <a:srgbClr val="11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1056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108960" y="41056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Rotate, shift, and scale images for robustness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8046720" cy="384048"/>
          </a:xfrm>
          <a:prstGeom prst="rect">
            <a:avLst/>
          </a:prstGeom>
          <a:solidFill>
            <a:srgbClr val="111B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" y="45628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Letters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108960" y="45628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EMNIST to extend beyond digits to A-Z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433905" y="2023110"/>
            <a:ext cx="427618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 :)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</TotalTime>
  <Words>1643</Words>
  <Application>Microsoft Office PowerPoint</Application>
  <PresentationFormat>On-screen Show (16:9)</PresentationFormat>
  <Paragraphs>288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Neural Network in C</dc:title>
  <dc:subject>PptxGenJS Presentation</dc:subject>
  <dc:creator>Austin</dc:creator>
  <cp:lastModifiedBy>Austin Riha</cp:lastModifiedBy>
  <cp:revision>4</cp:revision>
  <dcterms:created xsi:type="dcterms:W3CDTF">2026-03-25T20:14:00Z</dcterms:created>
  <dcterms:modified xsi:type="dcterms:W3CDTF">2026-03-30T18:18:42Z</dcterms:modified>
</cp:coreProperties>
</file>